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0faf576ab148dc" /><Relationship Type="http://schemas.openxmlformats.org/officeDocument/2006/relationships/extended-properties" Target="/docProps/app.xml" Id="R91144b2cfd914f4b" /><Relationship Type="http://schemas.openxmlformats.org/officeDocument/2006/relationships/officeDocument" Target="/ppt/presentation.xml" Id="R0004a6ea76dd43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0256001d8445f2"/>
  </p:sldMasterIdLst>
  <p:notesMasterIdLst>
    <p:notesMasterId xmlns:r="http://schemas.openxmlformats.org/officeDocument/2006/relationships" r:id="R310ad1ec9f054dcd"/>
  </p:notesMasterIdLst>
  <p:sldIdLst>
    <p:sldId xmlns:r="http://schemas.openxmlformats.org/officeDocument/2006/relationships" id="256" r:id="R13c9d33761ce480a"/>
    <p:sldId xmlns:r="http://schemas.openxmlformats.org/officeDocument/2006/relationships" id="257" r:id="Rc02c2855754e417b"/>
    <p:sldId xmlns:r="http://schemas.openxmlformats.org/officeDocument/2006/relationships" id="258" r:id="R5bc37008977d403a"/>
    <p:sldId xmlns:r="http://schemas.openxmlformats.org/officeDocument/2006/relationships" id="259" r:id="R054a0a27bc6e4422"/>
    <p:sldId xmlns:r="http://schemas.openxmlformats.org/officeDocument/2006/relationships" id="260" r:id="Rce06e1d0d5ad4512"/>
    <p:sldId xmlns:r="http://schemas.openxmlformats.org/officeDocument/2006/relationships" id="261" r:id="R909a20b4b785442d"/>
    <p:sldId xmlns:r="http://schemas.openxmlformats.org/officeDocument/2006/relationships" id="262" r:id="Re629bd7c31b24f4b"/>
    <p:sldId xmlns:r="http://schemas.openxmlformats.org/officeDocument/2006/relationships" id="263" r:id="Rfc3219d07e0b47c8"/>
    <p:sldId xmlns:r="http://schemas.openxmlformats.org/officeDocument/2006/relationships" id="264" r:id="R861a8ff506104966"/>
    <p:sldId xmlns:r="http://schemas.openxmlformats.org/officeDocument/2006/relationships" id="265" r:id="R04c4f7fe6d514fc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d58ffb8a1449b" /><Relationship Type="http://schemas.openxmlformats.org/officeDocument/2006/relationships/slideMaster" Target="/ppt/slideMasters/slideMaster1.xml" Id="Rd50256001d8445f2" /><Relationship Type="http://schemas.openxmlformats.org/officeDocument/2006/relationships/notesMaster" Target="/ppt/notesMasters/notesMaster1.xml" Id="R310ad1ec9f054dcd" /><Relationship Type="http://schemas.openxmlformats.org/officeDocument/2006/relationships/presProps" Target="/ppt/presProps.xml" Id="R9b0ac864ae414ba3" /><Relationship Type="http://schemas.openxmlformats.org/officeDocument/2006/relationships/tableStyles" Target="/ppt/tableStyles.xml" Id="R981dc9f5ca9d4690" /><Relationship Type="http://schemas.openxmlformats.org/officeDocument/2006/relationships/slide" Target="/ppt/slides/slide1.xml" Id="R13c9d33761ce480a" /><Relationship Type="http://schemas.openxmlformats.org/officeDocument/2006/relationships/slide" Target="/ppt/slides/slide2.xml" Id="Rc02c2855754e417b" /><Relationship Type="http://schemas.openxmlformats.org/officeDocument/2006/relationships/slide" Target="/ppt/slides/slide3.xml" Id="R5bc37008977d403a" /><Relationship Type="http://schemas.openxmlformats.org/officeDocument/2006/relationships/slide" Target="/ppt/slides/slide4.xml" Id="R054a0a27bc6e4422" /><Relationship Type="http://schemas.openxmlformats.org/officeDocument/2006/relationships/slide" Target="/ppt/slides/slide5.xml" Id="Rce06e1d0d5ad4512" /><Relationship Type="http://schemas.openxmlformats.org/officeDocument/2006/relationships/slide" Target="/ppt/slides/slide6.xml" Id="R909a20b4b785442d" /><Relationship Type="http://schemas.openxmlformats.org/officeDocument/2006/relationships/slide" Target="/ppt/slides/slide7.xml" Id="Re629bd7c31b24f4b" /><Relationship Type="http://schemas.openxmlformats.org/officeDocument/2006/relationships/slide" Target="/ppt/slides/slide8.xml" Id="Rfc3219d07e0b47c8" /><Relationship Type="http://schemas.openxmlformats.org/officeDocument/2006/relationships/slide" Target="/ppt/slides/slide9.xml" Id="R861a8ff506104966" /><Relationship Type="http://schemas.openxmlformats.org/officeDocument/2006/relationships/slide" Target="/ppt/slides/slide10.xml" Id="R04c4f7fe6d514f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914607a0694f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dd96bc70694522" /><Relationship Type="http://schemas.openxmlformats.org/officeDocument/2006/relationships/notesMaster" Target="/ppt/notesMasters/notesMaster1.xml" Id="R0ba4fd3a8a2a4f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b027b96504653" /><Relationship Type="http://schemas.openxmlformats.org/officeDocument/2006/relationships/notesMaster" Target="/ppt/notesMasters/notesMaster1.xml" Id="Rf6f7631941dc4a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3c5e90c1ef46ab" /><Relationship Type="http://schemas.openxmlformats.org/officeDocument/2006/relationships/notesMaster" Target="/ppt/notesMasters/notesMaster1.xml" Id="R9fdc699c4f5842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8b020d5fd546a3" /><Relationship Type="http://schemas.openxmlformats.org/officeDocument/2006/relationships/notesMaster" Target="/ppt/notesMasters/notesMaster1.xml" Id="Rea6498a19fd849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d9f457ae5e40c1" /><Relationship Type="http://schemas.openxmlformats.org/officeDocument/2006/relationships/notesMaster" Target="/ppt/notesMasters/notesMaster1.xml" Id="Rc7eb2565522542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0a5f4b776a410f" /><Relationship Type="http://schemas.openxmlformats.org/officeDocument/2006/relationships/notesMaster" Target="/ppt/notesMasters/notesMaster1.xml" Id="R81d7968400f440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bd7596da904caf" /><Relationship Type="http://schemas.openxmlformats.org/officeDocument/2006/relationships/notesMaster" Target="/ppt/notesMasters/notesMaster1.xml" Id="R48a7c1de55884c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0a1f63e7464e95" /><Relationship Type="http://schemas.openxmlformats.org/officeDocument/2006/relationships/notesMaster" Target="/ppt/notesMasters/notesMaster1.xml" Id="R9ccd97484a9b4f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3b661026a847df" /><Relationship Type="http://schemas.openxmlformats.org/officeDocument/2006/relationships/notesMaster" Target="/ppt/notesMasters/notesMaster1.xml" Id="R1f605ef15ff748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976e287da54da3" /><Relationship Type="http://schemas.openxmlformats.org/officeDocument/2006/relationships/notesMaster" Target="/ppt/notesMasters/notesMaster1.xml" Id="R1eedce8c1bb443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25秒</a:t>
            </a:r>
          </a:p>
          <a:p xmlns:a="http://schemas.openxmlformats.org/drawingml/2006/main">
            <a:r>
              <a:t>各位评委好，我介绍的作品是简行。它让用户通过自然语言提出银行需求，分别处理每项目标，并把研究依据、授权和回执接起来。所有展示发生在合成金融沙箱，不连接真实银行资金。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50秒</a:t>
            </a:r>
          </a:p>
          <a:p xmlns:a="http://schemas.openxmlformats.org/drawingml/2006/main">
            <a:r>
              <a:t>创作的起点是手机银行的三个使用困难：入口分散，复杂操作需要反复切换页面，分析与办理又相互脱节。特别是用户把转账、研究和预算放在一句话里时，系统容易只完成第一个。我们的目标是逐项理解需求，让独立任务分别推进，让用户始终看到待补条件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65秒</a:t>
            </a:r>
          </a:p>
          <a:p xmlns:a="http://schemas.openxmlformats.org/drawingml/2006/main">
            <a:r>
              <a:t>简行有直接办理和深度研究两条路径。收款人与金额明确时，生成可核对的办理计划。需要分析收支或比较产品时，先研究，等用户选择再衔接办理。六类菜单覆盖31项入口。界面显示真实执行阶段，任务可以停止，历史会话可以继续。规则演示能复现界面，开放式理解需要配置真实模型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80秒</a:t>
            </a:r>
          </a:p>
          <a:p xmlns:a="http://schemas.openxmlformats.org/drawingml/2006/main">
            <a:r>
              <a:t>架构保留一个Supervisor和四个子Agent。Supervisor拆解目标并分派。账单和理财研究可以并行取证，各自保留专业上下文，独立核验检查来源、数字和任务覆盖，缺项再定向补查。业务办理生成DAG草案。LangGraph管理流转，Agents SDK调用角色，Harness控制预算。Agent数量不等于菜单或工具数量，简单任务也不必经过所有角色。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75秒</a:t>
            </a:r>
          </a:p>
          <a:p xmlns:a="http://schemas.openxmlformats.org/drawingml/2006/main">
            <a:r>
              <a:t>以可用4500元为例，两笔转账分别是400元和1500元，研究预算等于剩余2600元的20%，即520元。这里只是准备计划和研究，不等于自动扣款。若一笔转账尚未完成，用户修改金额后重算关联预算；完成的转账保留回执。独立任务可以分别推进，但用户明确要求条件不足全都不办时，系统保留整单约束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70秒</a:t>
            </a:r>
          </a:p>
          <a:p xmlns:a="http://schemas.openxmlformats.org/drawingml/2006/main">
            <a:r>
              <a:t>我们把当前任务状态和历史记忆分开。任务状态保存金额、对象、依赖和进度，恢复时直接读取，不能用语义检索猜。共享记忆则保存偏好和证据，先按权限筛选，再Embedding检索、TextRank提取关键原句，最后回读SQL原文。角色化装配和阶段无损去重减少重复内容，金额、否定要求和来源不会被随意总结掉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65秒</a:t>
            </a:r>
          </a:p>
          <a:p xmlns:a="http://schemas.openxmlformats.org/drawingml/2006/main">
            <a:r>
              <a:t>权限按用户身份、角色读取范围和操作风险分别控制。GREEN可以执行允许的只读操作，YELLOW需要本人确认，RED需要强验证。授权指纹绑定用户、金额、对象和计划版本，参数变化后旧授权失效。业务网关在事务中再次检查余额和条件。幂等与回执防止重复执行，提交未知时先查询。演示码只是沙箱体验，不能当作正式银行认证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65秒</a:t>
            </a:r>
          </a:p>
          <a:p xmlns:a="http://schemas.openxmlformats.org/drawingml/2006/main">
            <a:r>
              <a:t>验证同时检查规则状态、用户可见界面与语义完成情况。当前冻结版本在66题中64题严格通过，得到96.97%，五维加权分4.7431。图中显示五维均分，各维适用样本不同，权重为2比2比1比1比1。题集参与开发，本轮没有重跑Single-Agent，所以不能宣称同版本对照提升，也不能把一次结果解释为生产成功率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45秒</a:t>
            </a:r>
          </a:p>
          <a:p xmlns:a="http://schemas.openxmlformats.org/drawingml/2006/main">
            <a:r>
              <a:t>两个失败没有被删掉。第一道基金续问保留了产品代码，却没有对费用、赎回和风险逐项回答。第二道会员条件已经保存，界面却漏显示按月付。下一步先修复这些呈现与证据问题，再做独立保留集和重复运行。真实银行接入还需要正式身份、真实适当性与清算规则、隐私和独立安全评估，当前结论只适用于合成沙箱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30秒</a:t>
            </a:r>
          </a:p>
          <a:p xmlns:a="http://schemas.openxmlformats.org/drawingml/2006/main">
            <a:r>
              <a:t>本次交付包括作品简介、架构海报、算法与安全文档、答辩PPT、完整源码和测试，以及权限分级和已知风险清单。新公开仓库提供可复现的本地运行方式。我们优先完善失败场景，再用独立题集、多次运行和人工复核持续验证。谢谢各位评委。</a:t>
            </a:r>
          </a:p>
          <a:p xmlns:a="http://schemas.openxmlformats.org/drawingml/2006/main">
            <a:r>
              <a:t>资料来源：本项目源码及docs/submission文档；评测数据见docs/lite66-repair-summary-2026-10-28.json。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51d3bed4d49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7f906ad3740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3b74bc45047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d3b129cda4a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69479f95b49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ad945a2234a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299A50-551F-4A87-8B3C-60AC70022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9BCED0-7295-471F-96A1-B25C00223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9C5307-813E-4E9C-865E-95A8B9FA4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9B635D-110B-4740-80F5-F5FC98B328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96C2D1-E589-443D-ABEA-106225A467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34CCA2-C875-4620-9BEA-1E3794B764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FE14A0-D802-450D-A207-E649E6E64C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0103D9-A134-4E99-A79B-1919DF7801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500C45-5B40-4052-B98A-CFF7638F9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EF0C9F-5A9F-45D4-908E-426FCCA8A0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d32fd15004abb" /><Relationship Type="http://schemas.openxmlformats.org/officeDocument/2006/relationships/slideLayout" Target="/ppt/slideLayouts/slideLayout1.xml" Id="R01dacfcc82aa44f7" /><Relationship Type="http://schemas.openxmlformats.org/officeDocument/2006/relationships/slideLayout" Target="/ppt/slideLayouts/slideLayout2.xml" Id="R0ad6b15ff731454b" /><Relationship Type="http://schemas.openxmlformats.org/officeDocument/2006/relationships/slideLayout" Target="/ppt/slideLayouts/slideLayout3.xml" Id="Rb6e6f2fb8e9f4254" /><Relationship Type="http://schemas.openxmlformats.org/officeDocument/2006/relationships/slideLayout" Target="/ppt/slideLayouts/slideLayout4.xml" Id="Ra7fe1243e58c4ffe" /><Relationship Type="http://schemas.openxmlformats.org/officeDocument/2006/relationships/slideLayout" Target="/ppt/slideLayouts/slideLayout5.xml" Id="R2b89228000c14289" /><Relationship Type="http://schemas.openxmlformats.org/officeDocument/2006/relationships/slideLayout" Target="/ppt/slideLayouts/slideLayout6.xml" Id="R26c57cbccc9342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dacfcc82aa44f7"/>
    <p:sldLayoutId xmlns:r="http://schemas.openxmlformats.org/officeDocument/2006/relationships" id="2147483650" r:id="R0ad6b15ff731454b"/>
    <p:sldLayoutId xmlns:r="http://schemas.openxmlformats.org/officeDocument/2006/relationships" id="2147483651" r:id="Rb6e6f2fb8e9f4254"/>
    <p:sldLayoutId xmlns:r="http://schemas.openxmlformats.org/officeDocument/2006/relationships" id="2147483652" r:id="Ra7fe1243e58c4ffe"/>
    <p:sldLayoutId xmlns:r="http://schemas.openxmlformats.org/officeDocument/2006/relationships" id="2147483653" r:id="R2b89228000c14289"/>
    <p:sldLayoutId xmlns:r="http://schemas.openxmlformats.org/officeDocument/2006/relationships" id="2147483654" r:id="R26c57cbccc9342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2522b06b2478b" /><Relationship Type="http://schemas.openxmlformats.org/officeDocument/2006/relationships/notesSlide" Target="/ppt/notesSlides/notesSlide1.xml" Id="Rbc9a49c9b02c49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e1f85b5a54ce0" /><Relationship Type="http://schemas.openxmlformats.org/officeDocument/2006/relationships/notesSlide" Target="/ppt/notesSlides/notesSlide2.xml" Id="R9c2bd4fed8634b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301bda4e44837" /><Relationship Type="http://schemas.openxmlformats.org/officeDocument/2006/relationships/image" Target="/ppt/media/image.bin" Id="Rc981235c2fa2458e" /><Relationship Type="http://schemas.openxmlformats.org/officeDocument/2006/relationships/notesSlide" Target="/ppt/notesSlides/notesSlide3.xml" Id="R68543b6fb59b4d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f78386b594993" /><Relationship Type="http://schemas.openxmlformats.org/officeDocument/2006/relationships/notesSlide" Target="/ppt/notesSlides/notesSlide4.xml" Id="R0320de33751748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c277f9e424258" /><Relationship Type="http://schemas.openxmlformats.org/officeDocument/2006/relationships/notesSlide" Target="/ppt/notesSlides/notesSlide5.xml" Id="R1b245a7b251a40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8cda2ed864db2" /><Relationship Type="http://schemas.openxmlformats.org/officeDocument/2006/relationships/notesSlide" Target="/ppt/notesSlides/notesSlide6.xml" Id="R0b421995c12148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c84563d434a96" /><Relationship Type="http://schemas.openxmlformats.org/officeDocument/2006/relationships/notesSlide" Target="/ppt/notesSlides/notesSlide7.xml" Id="Rdbe1594c1e914f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2fe905f1b45a8" /><Relationship Type="http://schemas.openxmlformats.org/officeDocument/2006/relationships/chart" Target="/ppt/slides/charts/chart1.xml" Id="R6a9ebe51c27c46f4" /><Relationship Type="http://schemas.openxmlformats.org/officeDocument/2006/relationships/notesSlide" Target="/ppt/notesSlides/notesSlide8.xml" Id="Rd10e59806ead4f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3e25534e141f8" /><Relationship Type="http://schemas.openxmlformats.org/officeDocument/2006/relationships/notesSlide" Target="/ppt/notesSlides/notesSlide9.xml" Id="R3bd1a46e07a54d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e03cb090b4c68" /><Relationship Type="http://schemas.openxmlformats.org/officeDocument/2006/relationships/notesSlide" Target="/ppt/notesSlides/notesSlide10.xml" Id="R4d181502a2384bd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维度均分</c:v>
          </c:tx>
          <c:spPr>
            <a:solidFill xmlns:a="http://schemas.openxmlformats.org/drawingml/2006/main">
              <a:srgbClr val="31594D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任务覆盖</c:v>
                </c:pt>
                <c:pt idx="1">
                  <c:v>业务正确</c:v>
                </c:pt>
                <c:pt idx="2">
                  <c:v>证据推理</c:v>
                </c:pt>
                <c:pt idx="3">
                  <c:v>可执行性</c:v>
                </c:pt>
                <c:pt idx="4">
                  <c:v>表达清晰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4.8182</c:v>
                </c:pt>
                <c:pt idx="1">
                  <c:v>4.9219</c:v>
                </c:pt>
                <c:pt idx="2">
                  <c:v>4.6154</c:v>
                </c:pt>
                <c:pt idx="3">
                  <c:v>4.7727</c:v>
                </c:pt>
                <c:pt idx="4">
                  <c:v>4.3333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DD8B8E1F-ED47-4106-AAC9-823658D0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FE401705-5E98-4F55-8C24-943ED802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" name="简行">
            <a:extLst xmlns:a="http://schemas.openxmlformats.org/drawingml/2006/main">
              <a:ext uri="{FF2B5EF4-FFF2-40B4-BE49-F238E27FC236}">
                <a16:creationId xmlns:a16="http://schemas.microsoft.com/office/drawing/2014/main" id="{6EEF5411-4CE1-4342-A598-15A5A4CF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88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简行</a:t>
            </a:r>
          </a:p>
        </p:txBody>
      </p:sp>
      <p:sp>
        <p:nvSpPr>
          <p:cNvPr id="4" name="JIANXING">
            <a:extLst xmlns:a="http://schemas.openxmlformats.org/drawingml/2006/main">
              <a:ext uri="{FF2B5EF4-FFF2-40B4-BE49-F238E27FC236}">
                <a16:creationId xmlns:a16="http://schemas.microsoft.com/office/drawing/2014/main" id="{D4684458-7B30-4EC5-BC44-8CCE8BB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0">
                <a:solidFill>
                  <a:srgbClr val="B7CDBB"/>
                </a:solidFill>
                <a:latin typeface="Noto Sans SC"/>
                <a:ea typeface="Noto Sans SC"/>
                <a:cs typeface="Noto Sans SC"/>
              </a:rPr>
              <a:t>JIANXING</a:t>
            </a:r>
          </a:p>
        </p:txBody>
      </p:sp>
      <p:sp>
        <p:nvSpPr>
          <p:cNvPr id="5" name="基于多智能体的银行业务与深度研究系统">
            <a:extLst xmlns:a="http://schemas.openxmlformats.org/drawingml/2006/main">
              <a:ext uri="{FF2B5EF4-FFF2-40B4-BE49-F238E27FC236}">
                <a16:creationId xmlns:a16="http://schemas.microsoft.com/office/drawing/2014/main" id="{08F31BE0-E38B-4074-B54A-92948B0A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1304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基于多智能体的银行业务与深度研究系统</a:t>
            </a:r>
          </a:p>
        </p:txBody>
      </p:sp>
      <p:sp>
        <p:nvSpPr>
          <p:cNvPr id="6" name="OpenAI Agents SDK　 LangGr">
            <a:extLst xmlns:a="http://schemas.openxmlformats.org/drawingml/2006/main">
              <a:ext uri="{FF2B5EF4-FFF2-40B4-BE49-F238E27FC236}">
                <a16:creationId xmlns:a16="http://schemas.microsoft.com/office/drawing/2014/main" id="{3BB691D2-EC44-466A-BCA7-DF8A685B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29350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B7CDBB"/>
                </a:solidFill>
                <a:latin typeface="Noto Sans SC"/>
                <a:ea typeface="Noto Sans SC"/>
                <a:cs typeface="Noto Sans SC"/>
              </a:rPr>
              <a:t>OpenAI Agents SDK　 LangGraph　 ChromaDB</a:t>
            </a:r>
          </a:p>
        </p:txBody>
      </p:sp>
    </p:spTree>
    <p:extLst>
      <p:ext uri="{BB962C8B-B14F-4D97-AF65-F5344CB8AC3E}">
        <p14:creationId xmlns:p14="http://schemas.microsoft.com/office/powerpoint/2010/main" val="2100930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用户的一句话，往往包含多项任务">
            <a:extLst xmlns:a="http://schemas.openxmlformats.org/drawingml/2006/main">
              <a:ext uri="{FF2B5EF4-FFF2-40B4-BE49-F238E27FC236}">
                <a16:creationId xmlns:a16="http://schemas.microsoft.com/office/drawing/2014/main" id="{2469FCEB-4E23-497F-9CF4-DA36ADF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76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用户的一句话，往往包含多项任务</a:t>
            </a:r>
          </a:p>
        </p:txBody>
      </p:sp>
      <p:sp>
        <p:nvSpPr>
          <p:cNvPr id="2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56034967-F5F9-4CC5-A195-3DE0FEA0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1B63F693-F4D2-4084-8542-FD8D9B05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4" name="“给妈妈转400元，给小王转1500元，&#10;剩余的钱">
            <a:extLst xmlns:a="http://schemas.openxmlformats.org/drawingml/2006/main">
              <a:ext uri="{FF2B5EF4-FFF2-40B4-BE49-F238E27FC236}">
                <a16:creationId xmlns:a16="http://schemas.microsoft.com/office/drawing/2014/main" id="{20932E74-49EF-4026-AEF8-9EFE30D2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323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“给妈妈转400元，给小王转1500元，</a:t>
            </a:r>
          </a:p>
          <a:p xmlns:a="http://schemas.openxmlformats.org/drawingml/2006/main">
            <a:pPr algn="l">
              <a:def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337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剩余的钱拿20%做理财并给出建议。”</a:t>
            </a:r>
          </a:p>
        </p:txBody>
      </p:sp>
      <p:sp>
        <p:nvSpPr>
          <p:cNvPr id="5" name="入口分散">
            <a:extLst xmlns:a="http://schemas.openxmlformats.org/drawingml/2006/main">
              <a:ext uri="{FF2B5EF4-FFF2-40B4-BE49-F238E27FC236}">
                <a16:creationId xmlns:a16="http://schemas.microsoft.com/office/drawing/2014/main" id="{D6C91B0A-6E2F-47F1-AAC7-014EC040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入口分散</a:t>
            </a:r>
          </a:p>
        </p:txBody>
      </p:sp>
      <p:sp>
        <p:nvSpPr>
          <p:cNvPr id="6" name="不同业务需要反复切换">
            <a:extLst xmlns:a="http://schemas.openxmlformats.org/drawingml/2006/main">
              <a:ext uri="{FF2B5EF4-FFF2-40B4-BE49-F238E27FC236}">
                <a16:creationId xmlns:a16="http://schemas.microsoft.com/office/drawing/2014/main" id="{CE0C0960-1E27-42B5-91C3-C8E44B8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不同业务需要反复切换</a:t>
            </a:r>
          </a:p>
        </p:txBody>
      </p:sp>
      <p:sp>
        <p:nvSpPr>
          <p:cNvPr id="7" name="组合需求易遗漏">
            <a:extLst xmlns:a="http://schemas.openxmlformats.org/drawingml/2006/main">
              <a:ext uri="{FF2B5EF4-FFF2-40B4-BE49-F238E27FC236}">
                <a16:creationId xmlns:a16="http://schemas.microsoft.com/office/drawing/2014/main" id="{0D70C067-DBB0-418A-A249-0C17C5B2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组合需求易遗漏</a:t>
            </a:r>
          </a:p>
        </p:txBody>
      </p:sp>
      <p:sp>
        <p:nvSpPr>
          <p:cNvPr id="8" name="转账与研究应分别保留进度">
            <a:extLst xmlns:a="http://schemas.openxmlformats.org/drawingml/2006/main">
              <a:ext uri="{FF2B5EF4-FFF2-40B4-BE49-F238E27FC236}">
                <a16:creationId xmlns:a16="http://schemas.microsoft.com/office/drawing/2014/main" id="{211118AC-AB13-4036-9F57-1E6205F7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38750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转账与研究应分别保留进度</a:t>
            </a:r>
          </a:p>
        </p:txBody>
      </p:sp>
      <p:sp>
        <p:nvSpPr>
          <p:cNvPr id="9" name="分析依据不完整">
            <a:extLst xmlns:a="http://schemas.openxmlformats.org/drawingml/2006/main">
              <a:ext uri="{FF2B5EF4-FFF2-40B4-BE49-F238E27FC236}">
                <a16:creationId xmlns:a16="http://schemas.microsoft.com/office/drawing/2014/main" id="{793DB024-9714-4F81-9388-E8776111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分析依据不完整</a:t>
            </a:r>
          </a:p>
        </p:txBody>
      </p:sp>
      <p:sp>
        <p:nvSpPr>
          <p:cNvPr id="10" name="结论需要条款与原始来源支持">
            <a:extLst xmlns:a="http://schemas.openxmlformats.org/drawingml/2006/main">
              <a:ext uri="{FF2B5EF4-FFF2-40B4-BE49-F238E27FC236}">
                <a16:creationId xmlns:a16="http://schemas.microsoft.com/office/drawing/2014/main" id="{33508B5F-1197-41C0-9AE5-2A327609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38750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结论需要条款与原始来源支持</a:t>
            </a:r>
          </a:p>
        </p:txBody>
      </p:sp>
    </p:spTree>
    <p:extLst>
      <p:ext uri="{BB962C8B-B14F-4D97-AF65-F5344CB8AC3E}">
        <p14:creationId xmlns:p14="http://schemas.microsoft.com/office/powerpoint/2010/main" val="837840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两条路径覆盖六类银行场景">
            <a:extLst xmlns:a="http://schemas.openxmlformats.org/drawingml/2006/main">
              <a:ext uri="{FF2B5EF4-FFF2-40B4-BE49-F238E27FC236}">
                <a16:creationId xmlns:a16="http://schemas.microsoft.com/office/drawing/2014/main" id="{5184DA30-19BE-4241-821C-B9D98111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76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两条路径覆盖六类银行场景</a:t>
            </a:r>
          </a:p>
        </p:txBody>
      </p:sp>
      <p:sp>
        <p:nvSpPr>
          <p:cNvPr id="2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07791018-3693-44DF-A5DE-0E8BF387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7E1120E1-B62A-480C-BB6C-882CC44E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" name="明确需求直接办理&#10;复杂需求先研究再选择">
            <a:extLst xmlns:a="http://schemas.openxmlformats.org/drawingml/2006/main">
              <a:ext uri="{FF2B5EF4-FFF2-40B4-BE49-F238E27FC236}">
                <a16:creationId xmlns:a16="http://schemas.microsoft.com/office/drawing/2014/main" id="{E836A798-0D22-43F6-95D4-01D00CDB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明确需求直接办理</a:t>
            </a:r>
          </a:p>
          <a:p xmlns:a="http://schemas.openxmlformats.org/drawingml/2006/main">
            <a:pPr algn="l">
              <a:def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复杂需求先研究再选择</a:t>
            </a:r>
          </a:p>
        </p:txBody>
      </p:sp>
      <p:sp>
        <p:nvSpPr>
          <p:cNvPr id="5" name="6类场景&#10;31项主菜单入口">
            <a:extLst xmlns:a="http://schemas.openxmlformats.org/drawingml/2006/main">
              <a:ext uri="{FF2B5EF4-FFF2-40B4-BE49-F238E27FC236}">
                <a16:creationId xmlns:a16="http://schemas.microsoft.com/office/drawing/2014/main" id="{65D3BDBF-B0F8-4E97-9D31-BE551741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6类场景</a:t>
            </a:r>
          </a:p>
          <a:p xmlns:a="http://schemas.openxmlformats.org/drawingml/2006/main">
            <a:pPr algn="l">
              <a:def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1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31项主菜单入口</a:t>
            </a:r>
          </a:p>
        </p:txBody>
      </p:sp>
      <p:sp>
        <p:nvSpPr>
          <p:cNvPr id="6" name="转账　账单　理财&#10;卡片　订阅　跨场景">
            <a:extLst xmlns:a="http://schemas.openxmlformats.org/drawingml/2006/main">
              <a:ext uri="{FF2B5EF4-FFF2-40B4-BE49-F238E27FC236}">
                <a16:creationId xmlns:a16="http://schemas.microsoft.com/office/drawing/2014/main" id="{5F9B6FA1-91DE-4DCB-B48D-D7E0F3F0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转账　账单　理财</a:t>
            </a:r>
          </a:p>
          <a:p xmlns:a="http://schemas.openxmlformats.org/drawingml/2006/main">
            <a:pPr algn="l">
              <a:def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卡片　订阅　跨场景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E8A78-D3EB-40AC-B644-3EC710AA8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1235c2fa2458e"/>
          <a:stretch xmlns:a="http://schemas.openxmlformats.org/drawingml/2006/main"/>
        </p:blipFill>
        <p:spPr>
          <a:xfrm xmlns:a="http://schemas.openxmlformats.org/drawingml/2006/main">
            <a:off x="7143601" y="1571625"/>
            <a:ext cx="5239048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9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16FEB-6693-4FCF-BFB6-DE8232573C1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1096625" y="4524375"/>
            <a:ext cx="180975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dash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9B3AD-402D-4A03-914C-9807DA63711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53250" y="600075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FC1D8-C425-4E8B-9DDA-726C8300E32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382125" y="4524375"/>
            <a:ext cx="17145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5A63F-5869-42B0-9F9E-FCB50F3AC127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095750" y="4524375"/>
            <a:ext cx="176212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121D2-D065-4836-9438-2B22D05C344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333625" y="4524375"/>
            <a:ext cx="176212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5A9FC-252C-42B1-A42E-64B9F6188E4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2619375"/>
            <a:ext cx="528637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0E0D3-5A0A-4106-A4C6-67E05B16B06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2619375"/>
            <a:ext cx="176212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4E7A9-72C6-45D5-8AAE-1BA1A69B2A0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5857875" y="2619375"/>
            <a:ext cx="176212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EF67D-25BC-4B55-BDFD-25FC20B8861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333625" y="2619375"/>
            <a:ext cx="528637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sp>
        <p:nvSpPr>
          <p:cNvPr id="21" name="Supervisor协调四个专业角色">
            <a:extLst xmlns:a="http://schemas.openxmlformats.org/drawingml/2006/main">
              <a:ext uri="{FF2B5EF4-FFF2-40B4-BE49-F238E27FC236}">
                <a16:creationId xmlns:a16="http://schemas.microsoft.com/office/drawing/2014/main" id="{60E1ECD2-5798-44BE-AAF7-95CFA371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76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Supervisor协调四个专业角色</a:t>
            </a:r>
          </a:p>
        </p:txBody>
      </p:sp>
      <p:sp>
        <p:nvSpPr>
          <p:cNvPr id="2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825D537B-7FE9-4A33-B844-A4352967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D5F0696B-8744-48E6-8934-A266FF6D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" name="Supervisor&#10;目标拆解与结果汇总">
            <a:extLst xmlns:a="http://schemas.openxmlformats.org/drawingml/2006/main">
              <a:ext uri="{FF2B5EF4-FFF2-40B4-BE49-F238E27FC236}">
                <a16:creationId xmlns:a16="http://schemas.microsoft.com/office/drawing/2014/main" id="{9161F5C5-3496-46DC-B3E2-6B030719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66875"/>
            <a:ext cx="4667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Supervisor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目标拆解与结果汇总</a:t>
            </a:r>
          </a:p>
        </p:txBody>
      </p:sp>
      <p:sp>
        <p:nvSpPr>
          <p:cNvPr id="5" name="账单研究 Agent&#10;流水与收支分析">
            <a:extLst xmlns:a="http://schemas.openxmlformats.org/drawingml/2006/main">
              <a:ext uri="{FF2B5EF4-FFF2-40B4-BE49-F238E27FC236}">
                <a16:creationId xmlns:a16="http://schemas.microsoft.com/office/drawing/2014/main" id="{FCC0EF64-7794-4850-86FB-FD472DA9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143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账单研究 Agent</a:t>
            </a:r>
          </a:p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流水与收支分析</a:t>
            </a:r>
          </a:p>
        </p:txBody>
      </p:sp>
      <p:sp>
        <p:nvSpPr>
          <p:cNvPr id="6" name="理财研究 Agent&#10;产品与风险比较">
            <a:extLst xmlns:a="http://schemas.openxmlformats.org/drawingml/2006/main">
              <a:ext uri="{FF2B5EF4-FFF2-40B4-BE49-F238E27FC236}">
                <a16:creationId xmlns:a16="http://schemas.microsoft.com/office/drawing/2014/main" id="{5944EBB8-FD70-4A47-BC37-35C0F796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3143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理财研究 Agent</a:t>
            </a:r>
          </a:p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产品与风险比较</a:t>
            </a:r>
          </a:p>
        </p:txBody>
      </p:sp>
      <p:sp>
        <p:nvSpPr>
          <p:cNvPr id="7" name="业务办理 Agent&#10;参数与DAG计划">
            <a:extLst xmlns:a="http://schemas.openxmlformats.org/drawingml/2006/main">
              <a:ext uri="{FF2B5EF4-FFF2-40B4-BE49-F238E27FC236}">
                <a16:creationId xmlns:a16="http://schemas.microsoft.com/office/drawing/2014/main" id="{74CDEDB4-F0DF-4D05-97F1-68D2F520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3143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业务办理 Agent</a:t>
            </a:r>
          </a:p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参数与DAG计划</a:t>
            </a:r>
          </a:p>
        </p:txBody>
      </p:sp>
      <p:sp>
        <p:nvSpPr>
          <p:cNvPr id="8" name="独立核验 Agent&#10;覆盖与证据检查">
            <a:extLst xmlns:a="http://schemas.openxmlformats.org/drawingml/2006/main">
              <a:ext uri="{FF2B5EF4-FFF2-40B4-BE49-F238E27FC236}">
                <a16:creationId xmlns:a16="http://schemas.microsoft.com/office/drawing/2014/main" id="{0744DF1A-DB3E-4561-AE14-A40515A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76625"/>
            <a:ext cx="3143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独立核验 Agent</a:t>
            </a:r>
          </a:p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覆盖与证据检查</a:t>
            </a:r>
          </a:p>
        </p:txBody>
      </p:sp>
      <p:sp>
        <p:nvSpPr>
          <p:cNvPr id="13" name="研究报告与用户选择">
            <a:extLst xmlns:a="http://schemas.openxmlformats.org/drawingml/2006/main">
              <a:ext uri="{FF2B5EF4-FFF2-40B4-BE49-F238E27FC236}">
                <a16:creationId xmlns:a16="http://schemas.microsoft.com/office/drawing/2014/main" id="{375F5FFD-1793-46E5-B5F3-C972BAE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5715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研究报告与用户选择</a:t>
            </a:r>
          </a:p>
        </p:txBody>
      </p:sp>
      <p:sp>
        <p:nvSpPr>
          <p:cNvPr id="14" name="本人授权与业务网关">
            <a:extLst xmlns:a="http://schemas.openxmlformats.org/drawingml/2006/main">
              <a:ext uri="{FF2B5EF4-FFF2-40B4-BE49-F238E27FC236}">
                <a16:creationId xmlns:a16="http://schemas.microsoft.com/office/drawing/2014/main" id="{BFA2F584-AE28-44BC-A32B-8504F5C4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72125"/>
            <a:ext cx="5524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本人授权与业务网关</a:t>
            </a:r>
          </a:p>
        </p:txBody>
      </p:sp>
      <p:sp>
        <p:nvSpPr>
          <p:cNvPr id="20" name="LangGraph控制流程　　Harness管理预">
            <a:extLst xmlns:a="http://schemas.openxmlformats.org/drawingml/2006/main">
              <a:ext uri="{FF2B5EF4-FFF2-40B4-BE49-F238E27FC236}">
                <a16:creationId xmlns:a16="http://schemas.microsoft.com/office/drawing/2014/main" id="{1E708088-99FC-4EAD-8F91-15D9D7FA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00875"/>
            <a:ext cx="1323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LangGraph控制流程　　Harness管理预算与事件　　Agents SDK调用角色</a:t>
            </a:r>
          </a:p>
        </p:txBody>
      </p:sp>
    </p:spTree>
    <p:extLst>
      <p:ext uri="{BB962C8B-B14F-4D97-AF65-F5344CB8AC3E}">
        <p14:creationId xmlns:p14="http://schemas.microsoft.com/office/powerpoint/2010/main" val="1763649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C8A0A-27E0-4851-B12D-75E201F47AA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476625"/>
            <a:ext cx="1809750" cy="976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DC70D-AD3B-4A88-A359-2A8C0468EC7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7750" y="2643188"/>
            <a:ext cx="1809750" cy="833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sp>
        <p:nvSpPr>
          <p:cNvPr id="11" name="目标清单与DAG保留每项需求">
            <a:extLst xmlns:a="http://schemas.openxmlformats.org/drawingml/2006/main">
              <a:ext uri="{FF2B5EF4-FFF2-40B4-BE49-F238E27FC236}">
                <a16:creationId xmlns:a16="http://schemas.microsoft.com/office/drawing/2014/main" id="{1F184B40-2C66-4379-9B4A-1D6D7672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76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目标清单与DAG保留每项需求</a:t>
            </a:r>
          </a:p>
        </p:txBody>
      </p:sp>
      <p:sp>
        <p:nvSpPr>
          <p:cNvPr id="2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55C294C4-101F-44E5-9DCC-39472981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D5F9E3B6-92D5-4413-8772-DB0BF6D5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4" name="妈妈 400元&#10;等待本次授权">
            <a:extLst xmlns:a="http://schemas.openxmlformats.org/drawingml/2006/main">
              <a:ext uri="{FF2B5EF4-FFF2-40B4-BE49-F238E27FC236}">
                <a16:creationId xmlns:a16="http://schemas.microsoft.com/office/drawing/2014/main" id="{50440D33-9B4D-473E-90CC-7EE3691F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0005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妈妈 400元</a:t>
            </a:r>
          </a:p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等待本次授权</a:t>
            </a:r>
          </a:p>
        </p:txBody>
      </p:sp>
      <p:sp>
        <p:nvSpPr>
          <p:cNvPr id="5" name="小王 1500元&#10;等待本次授权">
            <a:extLst xmlns:a="http://schemas.openxmlformats.org/drawingml/2006/main">
              <a:ext uri="{FF2B5EF4-FFF2-40B4-BE49-F238E27FC236}">
                <a16:creationId xmlns:a16="http://schemas.microsoft.com/office/drawing/2014/main" id="{806405D0-9BA6-47E9-9F1D-9EA7039E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0005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小王 1500元</a:t>
            </a:r>
          </a:p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等待本次授权</a:t>
            </a:r>
          </a:p>
        </p:txBody>
      </p:sp>
      <p:sp>
        <p:nvSpPr>
          <p:cNvPr id="6" name="研究剩余资金的20%&#10;保留预算来源与依赖">
            <a:extLst xmlns:a="http://schemas.openxmlformats.org/drawingml/2006/main">
              <a:ext uri="{FF2B5EF4-FFF2-40B4-BE49-F238E27FC236}">
                <a16:creationId xmlns:a16="http://schemas.microsoft.com/office/drawing/2014/main" id="{6D568CC2-CD96-4B51-AEB0-D04F15E7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6667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研究剩余资金的20%</a:t>
            </a:r>
          </a:p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保留预算来源与依赖</a:t>
            </a:r>
          </a:p>
        </p:txBody>
      </p:sp>
      <p:sp>
        <p:nvSpPr>
          <p:cNvPr id="9" name="(4500 − 400 − 1500) × 20%">
            <a:extLst xmlns:a="http://schemas.openxmlformats.org/drawingml/2006/main">
              <a:ext uri="{FF2B5EF4-FFF2-40B4-BE49-F238E27FC236}">
                <a16:creationId xmlns:a16="http://schemas.microsoft.com/office/drawing/2014/main" id="{E0884A35-FF00-4B43-824F-81F7E101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(4500 − 400 − 1500) × 20% = 520元</a:t>
            </a:r>
          </a:p>
        </p:txBody>
      </p:sp>
      <p:sp>
        <p:nvSpPr>
          <p:cNvPr id="10" name="缺项仅阻塞对应任务，已完成交易保留回执。&#10;用户明确">
            <a:extLst xmlns:a="http://schemas.openxmlformats.org/drawingml/2006/main">
              <a:ext uri="{FF2B5EF4-FFF2-40B4-BE49-F238E27FC236}">
                <a16:creationId xmlns:a16="http://schemas.microsoft.com/office/drawing/2014/main" id="{0BEA8AD1-180D-41EF-B492-27A6750E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34125"/>
            <a:ext cx="1323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缺项仅阻塞对应任务，已完成交易保留回执。</a:t>
            </a:r>
          </a:p>
          <a:p xmlns:a="http://schemas.openxmlformats.org/drawingml/2006/main">
            <a: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用户明确的整单前置条件始终保留。</a:t>
            </a:r>
          </a:p>
        </p:txBody>
      </p:sp>
    </p:spTree>
    <p:extLst>
      <p:ext uri="{BB962C8B-B14F-4D97-AF65-F5344CB8AC3E}">
        <p14:creationId xmlns:p14="http://schemas.microsoft.com/office/powerpoint/2010/main" val="11745096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C3B0A-04D1-4C70-8969-35001C62B5C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429750" y="6024563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06839-AC46-447C-A488-8565CA4CA04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72000" y="6024563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sp>
        <p:nvSpPr>
          <p:cNvPr id="14" name="任务状态保进度，共享记忆留依据">
            <a:extLst xmlns:a="http://schemas.openxmlformats.org/drawingml/2006/main">
              <a:ext uri="{FF2B5EF4-FFF2-40B4-BE49-F238E27FC236}">
                <a16:creationId xmlns:a16="http://schemas.microsoft.com/office/drawing/2014/main" id="{9D035995-0331-495F-9B97-30DE0DA9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76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任务状态保进度，共享记忆留依据</a:t>
            </a:r>
          </a:p>
        </p:txBody>
      </p:sp>
      <p:sp>
        <p:nvSpPr>
          <p:cNvPr id="2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E7723238-A54B-44E9-BBDF-BC6C3237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5064CC5E-021A-4B23-A969-77E3CC0F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4" name="当前任务">
            <a:extLst xmlns:a="http://schemas.openxmlformats.org/drawingml/2006/main">
              <a:ext uri="{FF2B5EF4-FFF2-40B4-BE49-F238E27FC236}">
                <a16:creationId xmlns:a16="http://schemas.microsoft.com/office/drawing/2014/main" id="{F4C635BA-4A8C-4102-B3C5-D594D8BB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当前任务</a:t>
            </a:r>
          </a:p>
        </p:txBody>
      </p:sp>
      <p:sp>
        <p:nvSpPr>
          <p:cNvPr id="5" name="版本化状态和持久化检查点&#10;修改金额时重算关联预算&#10;">
            <a:extLst xmlns:a="http://schemas.openxmlformats.org/drawingml/2006/main">
              <a:ext uri="{FF2B5EF4-FFF2-40B4-BE49-F238E27FC236}">
                <a16:creationId xmlns:a16="http://schemas.microsoft.com/office/drawing/2014/main" id="{2D2B6887-62FF-4F60-AF9D-FA533ABC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647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版本化状态和持久化检查点</a:t>
            </a:r>
          </a:p>
          <a:p xmlns:a="http://schemas.openxmlformats.org/drawingml/2006/main">
            <a: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修改金额时重算关联预算</a:t>
            </a:r>
          </a:p>
          <a:p xmlns:a="http://schemas.openxmlformats.org/drawingml/2006/main">
            <a: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完成节点与回执不重放</a:t>
            </a:r>
          </a:p>
        </p:txBody>
      </p:sp>
      <p:sp>
        <p:nvSpPr>
          <p:cNvPr id="6" name="历史信息">
            <a:extLst xmlns:a="http://schemas.openxmlformats.org/drawingml/2006/main">
              <a:ext uri="{FF2B5EF4-FFF2-40B4-BE49-F238E27FC236}">
                <a16:creationId xmlns:a16="http://schemas.microsoft.com/office/drawing/2014/main" id="{BF1572DB-F02A-4A52-9C02-526CF6AB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600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历史信息</a:t>
            </a:r>
          </a:p>
        </p:txBody>
      </p:sp>
      <p:sp>
        <p:nvSpPr>
          <p:cNvPr id="7" name="ChromaDB检索索引&#10;SQLite保存原始证据">
            <a:extLst xmlns:a="http://schemas.openxmlformats.org/drawingml/2006/main">
              <a:ext uri="{FF2B5EF4-FFF2-40B4-BE49-F238E27FC236}">
                <a16:creationId xmlns:a16="http://schemas.microsoft.com/office/drawing/2014/main" id="{DF32F2C8-3A88-4D37-8E75-0EEAE42E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6000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ChromaDB检索索引</a:t>
            </a:r>
          </a:p>
          <a:p xmlns:a="http://schemas.openxmlformats.org/drawingml/2006/main">
            <a: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SQLite保存原始证据</a:t>
            </a:r>
          </a:p>
          <a:p xmlns:a="http://schemas.openxmlformats.org/drawingml/2006/main">
            <a: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用户、会话与角色访问隔离</a:t>
            </a:r>
          </a:p>
        </p:txBody>
      </p:sp>
      <p:sp>
        <p:nvSpPr>
          <p:cNvPr id="8" name="Embedding检索">
            <a:extLst xmlns:a="http://schemas.openxmlformats.org/drawingml/2006/main">
              <a:ext uri="{FF2B5EF4-FFF2-40B4-BE49-F238E27FC236}">
                <a16:creationId xmlns:a16="http://schemas.microsoft.com/office/drawing/2014/main" id="{43B3555F-BD37-4712-BDAB-E9D31AD1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3714750" cy="809625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Embedding检索</a:t>
            </a:r>
          </a:p>
        </p:txBody>
      </p:sp>
      <p:sp>
        <p:nvSpPr>
          <p:cNvPr id="9" name="TextRank提取">
            <a:extLst xmlns:a="http://schemas.openxmlformats.org/drawingml/2006/main">
              <a:ext uri="{FF2B5EF4-FFF2-40B4-BE49-F238E27FC236}">
                <a16:creationId xmlns:a16="http://schemas.microsoft.com/office/drawing/2014/main" id="{0724F81B-BA3E-4B80-85A6-F72B1EB7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9750"/>
            <a:ext cx="3714750" cy="809625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TextRank提取</a:t>
            </a:r>
          </a:p>
        </p:txBody>
      </p:sp>
      <p:sp>
        <p:nvSpPr>
          <p:cNvPr id="10" name="原文回读">
            <a:extLst xmlns:a="http://schemas.openxmlformats.org/drawingml/2006/main">
              <a:ext uri="{FF2B5EF4-FFF2-40B4-BE49-F238E27FC236}">
                <a16:creationId xmlns:a16="http://schemas.microsoft.com/office/drawing/2014/main" id="{155EE54F-57D9-4A2F-A9E3-A9F7CA0C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619750"/>
            <a:ext cx="3714750" cy="809625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原文回读</a:t>
            </a:r>
          </a:p>
        </p:txBody>
      </p:sp>
      <p:sp>
        <p:nvSpPr>
          <p:cNvPr id="13" name="TaskBrief交接与RoleReturn返回协">
            <a:extLst xmlns:a="http://schemas.openxmlformats.org/drawingml/2006/main">
              <a:ext uri="{FF2B5EF4-FFF2-40B4-BE49-F238E27FC236}">
                <a16:creationId xmlns:a16="http://schemas.microsoft.com/office/drawing/2014/main" id="{39DCEC36-01E1-4684-A77D-9A093B9E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00875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TaskBrief交接与RoleReturn返回协议，配合阶段去重和后台整理</a:t>
            </a:r>
          </a:p>
        </p:txBody>
      </p:sp>
    </p:spTree>
    <p:extLst>
      <p:ext uri="{BB962C8B-B14F-4D97-AF65-F5344CB8AC3E}">
        <p14:creationId xmlns:p14="http://schemas.microsoft.com/office/powerpoint/2010/main" val="995200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0ECC7-8522-43D2-AB48-B410C43E714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29750" y="50482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513B3-5C60-48ED-9626-9CB08960A93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76750" y="50482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7D70"/>
            </a:solidFill>
            <a:prstDash val="solid"/>
            <a:tailEnd type="arrow" w="med" len="med"/>
          </a:ln>
        </p:spPr>
      </p:cxnSp>
      <p:sp>
        <p:nvSpPr>
          <p:cNvPr id="16" name="授权网关控制每次资金执行">
            <a:extLst xmlns:a="http://schemas.openxmlformats.org/drawingml/2006/main">
              <a:ext uri="{FF2B5EF4-FFF2-40B4-BE49-F238E27FC236}">
                <a16:creationId xmlns:a16="http://schemas.microsoft.com/office/drawing/2014/main" id="{EFF1FB0F-0622-4D46-943D-818EBDD3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76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授权网关控制每次资金执行</a:t>
            </a:r>
          </a:p>
        </p:txBody>
      </p:sp>
      <p:sp>
        <p:nvSpPr>
          <p:cNvPr id="2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8CD8C45F-4B47-4C02-986D-0D5292A2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AF7410E1-2516-44EA-886D-CBB87277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4" name="GREEN">
            <a:extLst xmlns:a="http://schemas.openxmlformats.org/drawingml/2006/main">
              <a:ext uri="{FF2B5EF4-FFF2-40B4-BE49-F238E27FC236}">
                <a16:creationId xmlns:a16="http://schemas.microsoft.com/office/drawing/2014/main" id="{0A15BE0C-34AC-43C1-A506-50C2B279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31594D"/>
                </a:solidFill>
                <a:latin typeface="Noto Sans SC"/>
                <a:ea typeface="Noto Sans SC"/>
                <a:cs typeface="Noto Sans SC"/>
              </a:rPr>
              <a:t>GREEN</a:t>
            </a:r>
          </a:p>
        </p:txBody>
      </p:sp>
      <p:sp>
        <p:nvSpPr>
          <p:cNvPr id="5" name="本人范围内允许自动执行">
            <a:extLst xmlns:a="http://schemas.openxmlformats.org/drawingml/2006/main">
              <a:ext uri="{FF2B5EF4-FFF2-40B4-BE49-F238E27FC236}">
                <a16:creationId xmlns:a16="http://schemas.microsoft.com/office/drawing/2014/main" id="{DA2CFB47-5D4B-422B-AEF7-5D6BA456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本人范围内允许自动执行</a:t>
            </a:r>
          </a:p>
        </p:txBody>
      </p:sp>
      <p:sp>
        <p:nvSpPr>
          <p:cNvPr id="6" name="YELLOW">
            <a:extLst xmlns:a="http://schemas.openxmlformats.org/drawingml/2006/main">
              <a:ext uri="{FF2B5EF4-FFF2-40B4-BE49-F238E27FC236}">
                <a16:creationId xmlns:a16="http://schemas.microsoft.com/office/drawing/2014/main" id="{5FA3230F-04C2-4CEB-B29A-CB90F125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B59964"/>
                </a:solidFill>
                <a:latin typeface="Noto Sans SC"/>
                <a:ea typeface="Noto Sans SC"/>
                <a:cs typeface="Noto Sans SC"/>
              </a:rPr>
              <a:t>YELLOW</a:t>
            </a:r>
          </a:p>
        </p:txBody>
      </p:sp>
      <p:sp>
        <p:nvSpPr>
          <p:cNvPr id="7" name="展示详情并由本人确认">
            <a:extLst xmlns:a="http://schemas.openxmlformats.org/drawingml/2006/main">
              <a:ext uri="{FF2B5EF4-FFF2-40B4-BE49-F238E27FC236}">
                <a16:creationId xmlns:a16="http://schemas.microsoft.com/office/drawing/2014/main" id="{1149F44C-10D0-42AB-8086-F9C4FD4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98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展示详情并由本人确认</a:t>
            </a:r>
          </a:p>
        </p:txBody>
      </p:sp>
      <p:sp>
        <p:nvSpPr>
          <p:cNvPr id="8" name="RED">
            <a:extLst xmlns:a="http://schemas.openxmlformats.org/drawingml/2006/main">
              <a:ext uri="{FF2B5EF4-FFF2-40B4-BE49-F238E27FC236}">
                <a16:creationId xmlns:a16="http://schemas.microsoft.com/office/drawing/2014/main" id="{BB632E84-57C0-47A2-8B8A-D4F390EF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52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AD5144"/>
                </a:solidFill>
                <a:latin typeface="Noto Sans SC"/>
                <a:ea typeface="Noto Sans SC"/>
                <a:cs typeface="Noto Sans SC"/>
              </a:rPr>
              <a:t>RED</a:t>
            </a:r>
          </a:p>
        </p:txBody>
      </p:sp>
      <p:sp>
        <p:nvSpPr>
          <p:cNvPr id="9" name="核对详情并完成强验证">
            <a:extLst xmlns:a="http://schemas.openxmlformats.org/drawingml/2006/main">
              <a:ext uri="{FF2B5EF4-FFF2-40B4-BE49-F238E27FC236}">
                <a16:creationId xmlns:a16="http://schemas.microsoft.com/office/drawing/2014/main" id="{87A5BC13-4627-4230-9BDB-25971A16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98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核对详情并完成强验证</a:t>
            </a:r>
          </a:p>
        </p:txBody>
      </p:sp>
      <p:sp>
        <p:nvSpPr>
          <p:cNvPr id="10" name="版本与指纹校验">
            <a:extLst xmlns:a="http://schemas.openxmlformats.org/drawingml/2006/main">
              <a:ext uri="{FF2B5EF4-FFF2-40B4-BE49-F238E27FC236}">
                <a16:creationId xmlns:a16="http://schemas.microsoft.com/office/drawing/2014/main" id="{5F6F7A17-4AFF-4ED7-8140-56C2DCD8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3619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版本与指纹校验</a:t>
            </a:r>
          </a:p>
        </p:txBody>
      </p:sp>
      <p:sp>
        <p:nvSpPr>
          <p:cNvPr id="11" name="规则和资金预检">
            <a:extLst xmlns:a="http://schemas.openxmlformats.org/drawingml/2006/main">
              <a:ext uri="{FF2B5EF4-FFF2-40B4-BE49-F238E27FC236}">
                <a16:creationId xmlns:a16="http://schemas.microsoft.com/office/drawing/2014/main" id="{624CCB03-ED0E-4BA9-9FA1-517B555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9625"/>
            <a:ext cx="3619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规则和资金预检</a:t>
            </a:r>
          </a:p>
        </p:txBody>
      </p:sp>
      <p:sp>
        <p:nvSpPr>
          <p:cNvPr id="12" name="幂等提交与回执">
            <a:extLst xmlns:a="http://schemas.openxmlformats.org/drawingml/2006/main">
              <a:ext uri="{FF2B5EF4-FFF2-40B4-BE49-F238E27FC236}">
                <a16:creationId xmlns:a16="http://schemas.microsoft.com/office/drawing/2014/main" id="{FAAFA6FD-A63D-44B4-B69F-A939F470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619625"/>
            <a:ext cx="3619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6EDE6"/>
          </a:solidFill>
          <a:ln xmlns:a="http://schemas.openxmlformats.org/drawingml/2006/main" w="9525">
            <a:solidFill>
              <a:srgbClr val="C8D6C8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幂等提交与回执</a:t>
            </a:r>
          </a:p>
        </p:txBody>
      </p:sp>
      <p:sp>
        <p:nvSpPr>
          <p:cNvPr id="15" name="模型只生成草案。研究、历史偏好与“同意”的文字均不">
            <a:extLst xmlns:a="http://schemas.openxmlformats.org/drawingml/2006/main">
              <a:ext uri="{FF2B5EF4-FFF2-40B4-BE49-F238E27FC236}">
                <a16:creationId xmlns:a16="http://schemas.microsoft.com/office/drawing/2014/main" id="{C4C42750-A809-4B64-A88D-560E02D9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29375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模型只生成草案。研究、历史偏好与“同意”的文字均不能签发有效授权。</a:t>
            </a:r>
          </a:p>
        </p:txBody>
      </p:sp>
    </p:spTree>
    <p:extLst>
      <p:ext uri="{BB962C8B-B14F-4D97-AF65-F5344CB8AC3E}">
        <p14:creationId xmlns:p14="http://schemas.microsoft.com/office/powerpoint/2010/main" val="111768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66题冻结诊断保留两项失败">
            <a:extLst xmlns:a="http://schemas.openxmlformats.org/drawingml/2006/main">
              <a:ext uri="{FF2B5EF4-FFF2-40B4-BE49-F238E27FC236}">
                <a16:creationId xmlns:a16="http://schemas.microsoft.com/office/drawing/2014/main" id="{AB6D942D-2A15-4613-88B5-2EE6341A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76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66题冻结诊断保留两项失败</a:t>
            </a:r>
          </a:p>
        </p:txBody>
      </p:sp>
      <p:sp>
        <p:nvSpPr>
          <p:cNvPr id="2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E606CDB8-E28F-457E-9D9E-4DEE605F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73412E67-0FB8-4A84-BED6-3CDD0FD4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4" name="96.97%">
            <a:extLst xmlns:a="http://schemas.openxmlformats.org/drawingml/2006/main">
              <a:ext uri="{FF2B5EF4-FFF2-40B4-BE49-F238E27FC236}">
                <a16:creationId xmlns:a16="http://schemas.microsoft.com/office/drawing/2014/main" id="{D09E3B10-8351-45F4-A868-E1BE9841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00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660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96.97%</a:t>
            </a:r>
          </a:p>
        </p:txBody>
      </p:sp>
      <p:sp>
        <p:nvSpPr>
          <p:cNvPr id="5" name="64/66题严格通过">
            <a:extLst xmlns:a="http://schemas.openxmlformats.org/drawingml/2006/main">
              <a:ext uri="{FF2B5EF4-FFF2-40B4-BE49-F238E27FC236}">
                <a16:creationId xmlns:a16="http://schemas.microsoft.com/office/drawing/2014/main" id="{C5BD5F50-74D3-44A5-8E5E-D9FAB8F1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861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64/66题严格通过</a:t>
            </a:r>
          </a:p>
        </p:txBody>
      </p:sp>
      <p:sp>
        <p:nvSpPr>
          <p:cNvPr id="6" name="4.7431 / 5">
            <a:extLst xmlns:a="http://schemas.openxmlformats.org/drawingml/2006/main">
              <a:ext uri="{FF2B5EF4-FFF2-40B4-BE49-F238E27FC236}">
                <a16:creationId xmlns:a16="http://schemas.microsoft.com/office/drawing/2014/main" id="{C77E8F5C-221E-449B-8C0A-0C86E68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33875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4.7431 / 5</a:t>
            </a:r>
          </a:p>
        </p:txBody>
      </p:sp>
      <p:sp>
        <p:nvSpPr>
          <p:cNvPr id="7" name="规则校验、界面回放与MiMo v12&#10;权重 2:2">
            <a:extLst xmlns:a="http://schemas.openxmlformats.org/drawingml/2006/main">
              <a:ext uri="{FF2B5EF4-FFF2-40B4-BE49-F238E27FC236}">
                <a16:creationId xmlns:a16="http://schemas.microsoft.com/office/drawing/2014/main" id="{CCE68F7F-A07E-4F1A-847A-6A065E39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67375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规则校验、界面回放与MiMo v12</a:t>
            </a:r>
          </a:p>
          <a:p xmlns:a="http://schemas.openxmlformats.org/drawingml/2006/main">
            <a:pPr algn="l">
              <a:def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权重 2:2:1:1:1，N/A不补满分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0F269B1A-D5BE-4A78-B9C8-75D7DF7EFDE0}"/>
              </a:ext>
            </a:extLst>
          </p:cNvPr>
          <p:cNvGraphicFramePr/>
          <p:nvPr/>
        </p:nvGraphicFramePr>
        <p:xfrm>
          <a:off xmlns:a="http://schemas.openxmlformats.org/drawingml/2006/main" x="7096125" y="1905000"/>
          <a:ext xmlns:a="http://schemas.openxmlformats.org/drawingml/2006/main" cx="74295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9ebe51c27c46f4"/>
          </a:graphicData>
        </a:graphic>
      </p:graphicFrame>
      <p:sp>
        <p:nvSpPr>
          <p:cNvPr id="9" name="单次冻结诊断，题集参与开发。本轮未重跑Single">
            <a:extLst xmlns:a="http://schemas.openxmlformats.org/drawingml/2006/main">
              <a:ext uri="{FF2B5EF4-FFF2-40B4-BE49-F238E27FC236}">
                <a16:creationId xmlns:a16="http://schemas.microsoft.com/office/drawing/2014/main" id="{041FF62E-DF82-45E0-8090-BF6DB72B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1343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单次冻结诊断，题集参与开发。本轮未重跑Single-Agent。</a:t>
            </a:r>
          </a:p>
        </p:txBody>
      </p:sp>
    </p:spTree>
    <p:extLst>
      <p:ext uri="{BB962C8B-B14F-4D97-AF65-F5344CB8AC3E}">
        <p14:creationId xmlns:p14="http://schemas.microsoft.com/office/powerpoint/2010/main" val="223901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已知问题与生产接入边界">
            <a:extLst xmlns:a="http://schemas.openxmlformats.org/drawingml/2006/main">
              <a:ext uri="{FF2B5EF4-FFF2-40B4-BE49-F238E27FC236}">
                <a16:creationId xmlns:a16="http://schemas.microsoft.com/office/drawing/2014/main" id="{689D738D-C9A3-491A-816C-915FF15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76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已知问题与生产接入边界</a:t>
            </a:r>
          </a:p>
        </p:txBody>
      </p:sp>
      <p:sp>
        <p:nvSpPr>
          <p:cNvPr id="2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FFF51EF9-5F1E-4ABC-9DDF-F8A7F815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39B7D9BC-2DD6-480B-A4BA-9BBECBD6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4" name="基金续问：分项条款回应不足">
            <a:extLst xmlns:a="http://schemas.openxmlformats.org/drawingml/2006/main">
              <a:ext uri="{FF2B5EF4-FFF2-40B4-BE49-F238E27FC236}">
                <a16:creationId xmlns:a16="http://schemas.microsoft.com/office/drawing/2014/main" id="{75A33D2A-3FD3-4179-BFDB-BEB4CD64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352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基金续问：分项条款回应不足</a:t>
            </a:r>
          </a:p>
        </p:txBody>
      </p:sp>
      <p:sp>
        <p:nvSpPr>
          <p:cNvPr id="5" name="保留标的，但费用、到账与股票风险需要逐项说明未知条">
            <a:extLst xmlns:a="http://schemas.openxmlformats.org/drawingml/2006/main">
              <a:ext uri="{FF2B5EF4-FFF2-40B4-BE49-F238E27FC236}">
                <a16:creationId xmlns:a16="http://schemas.microsoft.com/office/drawing/2014/main" id="{956DFD45-AC23-41AD-AF0B-E89F9CD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保留标的，但费用、到账与股票风险需要逐项说明未知条件。</a:t>
            </a:r>
          </a:p>
        </p:txBody>
      </p:sp>
      <p:sp>
        <p:nvSpPr>
          <p:cNvPr id="6" name="会员续办：按月付条件未完整呈现">
            <a:extLst xmlns:a="http://schemas.openxmlformats.org/drawingml/2006/main">
              <a:ext uri="{FF2B5EF4-FFF2-40B4-BE49-F238E27FC236}">
                <a16:creationId xmlns:a16="http://schemas.microsoft.com/office/drawing/2014/main" id="{7CD95F12-64DA-45DE-96C5-B10DA5D7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352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1">
                <a:solidFill>
                  <a:srgbClr val="173C40"/>
                </a:solidFill>
                <a:latin typeface="Noto Sans SC"/>
                <a:ea typeface="Noto Sans SC"/>
                <a:cs typeface="Noto Sans SC"/>
              </a:rPr>
              <a:t>会员续办：按月付条件未完整呈现</a:t>
            </a:r>
          </a:p>
        </p:txBody>
      </p:sp>
      <p:sp>
        <p:nvSpPr>
          <p:cNvPr id="7" name="状态已保存，用户可见结果仍需补齐。">
            <a:extLst xmlns:a="http://schemas.openxmlformats.org/drawingml/2006/main">
              <a:ext uri="{FF2B5EF4-FFF2-40B4-BE49-F238E27FC236}">
                <a16:creationId xmlns:a16="http://schemas.microsoft.com/office/drawing/2014/main" id="{ECC836D8-FD6E-422E-830B-9DFB71A6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352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63832"/>
                </a:solidFill>
                <a:latin typeface="Noto Sans SC"/>
                <a:ea typeface="Noto Sans SC"/>
                <a:cs typeface="Noto Sans SC"/>
              </a:rPr>
              <a:t>状态已保存，用户可见结果仍需补齐。</a:t>
            </a:r>
          </a:p>
        </p:txBody>
      </p:sp>
      <p:sp>
        <p:nvSpPr>
          <p:cNvPr id="8" name="真实接入前需补齐正式身份、数据保护、银行规则与独立">
            <a:extLst xmlns:a="http://schemas.openxmlformats.org/drawingml/2006/main">
              <a:ext uri="{FF2B5EF4-FFF2-40B4-BE49-F238E27FC236}">
                <a16:creationId xmlns:a16="http://schemas.microsoft.com/office/drawing/2014/main" id="{2D0458A0-D636-4DDD-AB78-B72DC7FA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15125"/>
            <a:ext cx="1352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6C7D70"/>
                </a:solidFill>
                <a:latin typeface="Noto Sans SC"/>
                <a:ea typeface="Noto Sans SC"/>
                <a:cs typeface="Noto Sans SC"/>
              </a:rPr>
              <a:t>真实接入前需补齐正式身份、数据保护、银行规则与独立安全审查。</a:t>
            </a:r>
          </a:p>
        </p:txBody>
      </p:sp>
    </p:spTree>
    <p:extLst>
      <p:ext uri="{BB962C8B-B14F-4D97-AF65-F5344CB8AC3E}">
        <p14:creationId xmlns:p14="http://schemas.microsoft.com/office/powerpoint/2010/main" val="19249308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交付材料与后续计划">
            <a:extLst xmlns:a="http://schemas.openxmlformats.org/drawingml/2006/main">
              <a:ext uri="{FF2B5EF4-FFF2-40B4-BE49-F238E27FC236}">
                <a16:creationId xmlns:a16="http://schemas.microsoft.com/office/drawing/2014/main" id="{8976638F-8FBB-4121-9467-116BD06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76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交付材料与后续计划</a:t>
            </a:r>
          </a:p>
        </p:txBody>
      </p:sp>
      <p:sp>
        <p:nvSpPr>
          <p:cNvPr id="2" name="简行 Jianxing　金融沙箱原型">
            <a:extLst xmlns:a="http://schemas.openxmlformats.org/drawingml/2006/main">
              <a:ext uri="{FF2B5EF4-FFF2-40B4-BE49-F238E27FC236}">
                <a16:creationId xmlns:a16="http://schemas.microsoft.com/office/drawing/2014/main" id="{C6DF4752-F8EF-4662-AE07-46268AE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9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rPr>
              <a:t>简行 Jianxing　金融沙箱原型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071E91A0-E771-4354-895C-DB46844C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81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BCD0C0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4" name="材料齐备，按说明即可本地体验">
            <a:extLst xmlns:a="http://schemas.openxmlformats.org/drawingml/2006/main">
              <a:ext uri="{FF2B5EF4-FFF2-40B4-BE49-F238E27FC236}">
                <a16:creationId xmlns:a16="http://schemas.microsoft.com/office/drawing/2014/main" id="{6A32FF30-DF82-43F7-BE46-56374332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362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材料齐备，按说明即可本地体验</a:t>
            </a:r>
          </a:p>
        </p:txBody>
      </p:sp>
      <p:sp>
        <p:nvSpPr>
          <p:cNvPr id="5" name="作品简介　 技术文档　 答辩PPT&#10;完整源码　 测">
            <a:extLst xmlns:a="http://schemas.openxmlformats.org/drawingml/2006/main">
              <a:ext uri="{FF2B5EF4-FFF2-40B4-BE49-F238E27FC236}">
                <a16:creationId xmlns:a16="http://schemas.microsoft.com/office/drawing/2014/main" id="{3B2EE8E2-3335-4052-A7F0-2BCE9642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362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rPr>
              <a:t>作品简介　 技术文档　 答辩PPT</a:t>
            </a:r>
          </a:p>
          <a:p xmlns:a="http://schemas.openxmlformats.org/drawingml/2006/main">
            <a:pPr algn="l">
              <a:def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0">
                <a:solidFill>
                  <a:srgbClr val="D6E5D7"/>
                </a:solidFill>
                <a:latin typeface="Noto Sans SC"/>
                <a:ea typeface="Noto Sans SC"/>
                <a:cs typeface="Noto Sans SC"/>
              </a:rPr>
              <a:t>完整源码　 测试用例　 安全自评</a:t>
            </a:r>
          </a:p>
        </p:txBody>
      </p:sp>
      <p:sp>
        <p:nvSpPr>
          <p:cNvPr id="6" name="https://github.com/xqcd77">
            <a:extLst xmlns:a="http://schemas.openxmlformats.org/drawingml/2006/main">
              <a:ext uri="{FF2B5EF4-FFF2-40B4-BE49-F238E27FC236}">
                <a16:creationId xmlns:a16="http://schemas.microsoft.com/office/drawing/2014/main" id="{22DA3C0E-FE49-4B61-9B4C-61E04379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https://github.com/xqcd77/jianxing</a:t>
            </a:r>
          </a:p>
        </p:txBody>
      </p:sp>
    </p:spTree>
    <p:extLst>
      <p:ext uri="{BB962C8B-B14F-4D97-AF65-F5344CB8AC3E}">
        <p14:creationId xmlns:p14="http://schemas.microsoft.com/office/powerpoint/2010/main" val="1266884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2026-10-28T08:14:29.6690000Z</dcterms:created>
  <dcterms:modified xsi:type="dcterms:W3CDTF">2026-10-28T08:14:29.6690000Z</dcterms:modified>
</coreProperties>
</file>